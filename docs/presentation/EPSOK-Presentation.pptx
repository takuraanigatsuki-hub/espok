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77724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0A1A33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86868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61D9"/>
                </a:solidFill>
              </a:rPr>
              <a:t>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B8C5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платформа следственно-оперативной координации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977640"/>
            <a:ext cx="2194560" cy="384048"/>
          </a:xfrm>
          <a:prstGeom prst="roundRect">
            <a:avLst>
              <a:gd name="adj" fmla="val 47619"/>
            </a:avLst>
          </a:prstGeom>
          <a:solidFill>
            <a:srgbClr val="0061D9">
              <a:alpha val="25000"/>
            </a:srgbClr>
          </a:solidFill>
          <a:ln w="6350">
            <a:solidFill>
              <a:srgbClr val="006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005072"/>
            <a:ext cx="2011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 · Краснодарский край · 2028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576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Повышение раскрываемости преступлений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межведомственную цифровизацию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ведомственных ИС без единого контура расследования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Межведомственный обмен — 14–45 рабочих дней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Серийные преступления не видны на федеральном уровне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~8% дел — нарушения процессуальных сроков (УПК)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 цифровых доказательств без полной цепочки custody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0061D9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2245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5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«Следователь во Владивостоке не видит связь с делом в Калининграде»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— платформа-надстройка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Сквозная карточка расследования и рабочая группа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связей: лица, счета, телефоны, организации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конвейер запросов — 1–3 рабочих дня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Реестр доказательств с неизменяемым журналом (WORM)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Контроль сроков УПК и федеральная аналитика modus operandi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заменяет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ГИАЦ · СОДЧ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 СК РФ · ФСБ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через СМЭВ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0061D9">
              <a:alpha val="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2245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5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— хаб координации, а не дублирование ведомственных баз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Экосистема участников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МВД России — методология, пилот, адаптер ГИАЦ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 РФ — следственный контур, экспертизы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Генпрокуратура — надзор, сроки УПК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Минцифры — оператор СМЭВ, ЦОД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ФНС · РФМ · ФТС · ФСИН · ФССП — исполнители запросов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20040"/>
            <a:ext cx="1051560" cy="347472"/>
          </a:xfrm>
          <a:prstGeom prst="roundRect">
            <a:avLst>
              <a:gd name="adj" fmla="val 39474"/>
            </a:avLst>
          </a:prstGeom>
          <a:solidFill>
            <a:srgbClr val="0061D9">
              <a:alpha val="12000"/>
            </a:srgbClr>
          </a:solidFill>
          <a:ln w="6350">
            <a:solidFill>
              <a:srgbClr val="0061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474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СЛЕДСТВИЕ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Дашборд и реестр дел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08760"/>
            <a:ext cx="54864" cy="1417320"/>
          </a:xfrm>
          <a:prstGeom prst="rect">
            <a:avLst/>
          </a:prstGeom>
          <a:solidFill>
            <a:srgbClr val="00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в реальном времени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Дела, сроки, запросы, OSINT, сигналы «Горизонт»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54864" cy="1417320"/>
          </a:xfrm>
          <a:prstGeom prst="rect">
            <a:avLst/>
          </a:prstGeom>
          <a:solidFill>
            <a:srgbClr val="00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Каскадный фильтр ПОЛ-001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 → ведомство → отдел — только свои дела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08960"/>
            <a:ext cx="54864" cy="1417320"/>
          </a:xfrm>
          <a:prstGeom prst="rect">
            <a:avLst/>
          </a:prstGeom>
          <a:solidFill>
            <a:srgbClr val="00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Карточка дела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Хронология, участники, смежные дела, документы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08960"/>
            <a:ext cx="54864" cy="1417320"/>
          </a:xfrm>
          <a:prstGeom prst="rect">
            <a:avLst/>
          </a:prstGeom>
          <a:solidFill>
            <a:srgbClr val="00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ролей демо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Следователь, руководитель, прокурор, исполнитель, аналитик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20040"/>
            <a:ext cx="1051560" cy="347472"/>
          </a:xfrm>
          <a:prstGeom prst="roundRect">
            <a:avLst>
              <a:gd name="adj" fmla="val 39474"/>
            </a:avLst>
          </a:prstGeom>
          <a:solidFill>
            <a:srgbClr val="0050B2">
              <a:alpha val="12000"/>
            </a:srgbClr>
          </a:solidFill>
          <a:ln w="6350">
            <a:solidFill>
              <a:srgbClr val="0050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474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50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 связей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08760"/>
            <a:ext cx="54864" cy="1417320"/>
          </a:xfrm>
          <a:prstGeom prst="rect">
            <a:avLst/>
          </a:prstGeom>
          <a:solidFill>
            <a:srgbClr val="0050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Изолированный контур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Каждое дело — отдельный граф, без автослияния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54864" cy="1417320"/>
          </a:xfrm>
          <a:prstGeom prst="rect">
            <a:avLst/>
          </a:prstGeom>
          <a:solidFill>
            <a:srgbClr val="0050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Вызовы и SMS с быстрой проверкой по ГИАЦ (ПОЛ-007)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08960"/>
            <a:ext cx="54864" cy="1417320"/>
          </a:xfrm>
          <a:prstGeom prst="rect">
            <a:avLst/>
          </a:prstGeom>
          <a:solidFill>
            <a:srgbClr val="0050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 из OSINT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Находки → узлы графа с подтверждением ФИО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08960"/>
            <a:ext cx="54864" cy="1417320"/>
          </a:xfrm>
          <a:prstGeom prst="rect">
            <a:avLst/>
          </a:prstGeom>
          <a:solidFill>
            <a:srgbClr val="0050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Федеральные связи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Смежные дела по счёту, SIM, IBAN — кластер МВ-2847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20040"/>
            <a:ext cx="1051560" cy="347472"/>
          </a:xfrm>
          <a:prstGeom prst="roundRect">
            <a:avLst>
              <a:gd name="adj" fmla="val 39474"/>
            </a:avLst>
          </a:prstGeom>
          <a:solidFill>
            <a:srgbClr val="43A047">
              <a:alpha val="12000"/>
            </a:srgbClr>
          </a:solidFill>
          <a:ln w="6350">
            <a:solidFill>
              <a:srgbClr val="43A0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474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ОБМЕН ДАННЫМИ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Межведомственные запросы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08760"/>
            <a:ext cx="54864" cy="1417320"/>
          </a:xfrm>
          <a:prstGeom prst="rect">
            <a:avLst/>
          </a:prstGeom>
          <a:solidFill>
            <a:srgbClr val="43A0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уровня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Межвед (СМЭВ) · внутри ведомства · внутри отдела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54864" cy="1417320"/>
          </a:xfrm>
          <a:prstGeom prst="rect">
            <a:avLst/>
          </a:prstGeom>
          <a:solidFill>
            <a:srgbClr val="43A0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ведомств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ФНС, РФМ, ФТС, ФСБ, Росгвардия, суды и др.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08960"/>
            <a:ext cx="54864" cy="1417320"/>
          </a:xfrm>
          <a:prstGeom prst="rect">
            <a:avLst/>
          </a:prstGeom>
          <a:solidFill>
            <a:srgbClr val="43A0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4 часов (отдел) до 3 рабочих дней (межвед)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08960"/>
            <a:ext cx="54864" cy="1417320"/>
          </a:xfrm>
          <a:prstGeom prst="rect">
            <a:avLst/>
          </a:prstGeom>
          <a:solidFill>
            <a:srgbClr val="43A0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Правовое основание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Каждый запрос — постановление, журнал аудита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20040"/>
            <a:ext cx="1051560" cy="347472"/>
          </a:xfrm>
          <a:prstGeom prst="roundRect">
            <a:avLst>
              <a:gd name="adj" fmla="val 39474"/>
            </a:avLst>
          </a:prstGeom>
          <a:solidFill>
            <a:srgbClr val="996600">
              <a:alpha val="12000"/>
            </a:srgbClr>
          </a:solidFill>
          <a:ln w="6350">
            <a:solidFill>
              <a:srgbClr val="9966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474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9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ПОЛ-006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Открытые источники (OSINT)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08760"/>
            <a:ext cx="54864" cy="1417320"/>
          </a:xfrm>
          <a:prstGeom prst="rect">
            <a:avLst/>
          </a:prstGeom>
          <a:solidFill>
            <a:srgbClr val="996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Изолированный контур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Whitelist модулей, без прямого доступа к делам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54864" cy="1417320"/>
          </a:xfrm>
          <a:prstGeom prst="rect">
            <a:avLst/>
          </a:prstGeom>
          <a:solidFill>
            <a:srgbClr val="996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 сбора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Пассивный · расширенный · углублённый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08960"/>
            <a:ext cx="54864" cy="1417320"/>
          </a:xfrm>
          <a:prstGeom prst="rect">
            <a:avLst/>
          </a:prstGeom>
          <a:solidFill>
            <a:srgbClr val="996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Пакеты доказательств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· неизменяемая запись · custody chain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08960"/>
            <a:ext cx="54864" cy="1417320"/>
          </a:xfrm>
          <a:prstGeom prst="rect">
            <a:avLst/>
          </a:prstGeom>
          <a:solidFill>
            <a:srgbClr val="996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WORM-аудит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действия фиксируются, purge по регламенту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320040"/>
            <a:ext cx="1051560" cy="347472"/>
          </a:xfrm>
          <a:prstGeom prst="roundRect">
            <a:avLst>
              <a:gd name="adj" fmla="val 39474"/>
            </a:avLst>
          </a:prstGeom>
          <a:solidFill>
            <a:srgbClr val="7C3AED">
              <a:alpha val="12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3474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ПОЛ-007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 — федеральная аналитика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50876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Serendipity Engine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Неожиданные совпадения между делами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5087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50876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16733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Link Detector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Скрытые связи через обезличенные паттерны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10896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Investigation Twin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Цифровой двойник расследования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108960"/>
            <a:ext cx="3886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108960"/>
            <a:ext cx="54864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2735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 гражданской БД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3611880"/>
            <a:ext cx="35204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Хеши телефонов и счетов — не ФИО граждан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Защищённая корпоративная почта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Сквозное шифрование: 4–6 уровней AES-256-GCM + HMAC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 Р 34.12-2015 · ГОСТ TLS 1.3 · HSM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Грифы: стандарт · служебное · ДСП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Шифрование на клиенте до отправки — в хранилище только шифротекст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Адресная книга ведомств · ответы и цепочки переписки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0A1A33"/>
          </a:solidFill>
          <a:ln w="9525">
            <a:solidFill>
              <a:srgbClr val="006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Тех. контур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3474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тех. админ видит параметры шифрования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8D4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Следователь — защищённый канал без деталей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информационной безопасности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1097280" cy="36576"/>
          </a:xfrm>
          <a:prstGeom prst="rect">
            <a:avLst/>
          </a:prstGeom>
          <a:solidFill>
            <a:srgbClr val="00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Trust · ABAC · принцип наименьших привилегий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Сессии: PBKDF2 120k · AES-256-GCM · HMAC-SHA-256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WORM-журнал аудита — append-only, подписанные записи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Тех. админ ЦОД не видит содержимое дел (ПОЛ-008)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0D8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187-ФЗ КИИ · ФСТЭК · УЗ-1 · данные только в РФ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8138160" cy="502920"/>
          </a:xfrm>
          <a:prstGeom prst="roundRect">
            <a:avLst>
              <a:gd name="adj" fmla="val 10909"/>
            </a:avLst>
          </a:prstGeom>
          <a:solidFill>
            <a:srgbClr val="0061D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224528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team · ГосСОПКА · DLP · SIEM · UEBA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Целевые показатели к 2032 г.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A1A33"/>
          </a:solidFill>
          <a:ln w="9525">
            <a:solidFill>
              <a:srgbClr val="0061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Межвед. запрос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14–45 дн.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7647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28800" y="1691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1–3 дня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37560" y="12344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A1A33"/>
          </a:solidFill>
          <a:ln w="9525">
            <a:solidFill>
              <a:srgbClr val="43A0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Межрег. связи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434840" y="17647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3A0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≥45%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72200" y="12344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A1A33"/>
          </a:solidFill>
          <a:ln w="9525">
            <a:solidFill>
              <a:srgbClr val="E52E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3716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Нарушения сроков УПК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09360" y="17373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~8%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17647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98080" y="16916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2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≤2%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0292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A1A33"/>
          </a:solidFill>
          <a:ln w="9525">
            <a:solidFill>
              <a:srgbClr val="9966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Серийные дела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566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2–4 нед.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600200" y="35935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9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828800" y="35204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9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24–72 ч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3337560" y="3063240"/>
            <a:ext cx="2606040" cy="1600200"/>
          </a:xfrm>
          <a:prstGeom prst="roundRect">
            <a:avLst>
              <a:gd name="adj" fmla="val 5714"/>
            </a:avLst>
          </a:prstGeom>
          <a:solidFill>
            <a:srgbClr val="0A1A33"/>
          </a:solidFill>
          <a:ln w="9525">
            <a:solidFill>
              <a:srgbClr val="0061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0" y="32004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Custody доказательств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0" y="35661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trike="sngStrike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~30%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434840" y="359359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663440" y="3520440"/>
            <a:ext cx="1143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≥95%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45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45720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45720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Дорожная карта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11480" y="123444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71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 · ТЗ · 3 региона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28800" y="2377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103120" y="123444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0061D9"/>
          </a:solidFill>
          <a:ln w="9525">
            <a:solidFill>
              <a:srgbClr val="006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1371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103120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2027–28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9456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Пилот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94560" y="27889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D8E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· 500 пользователей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520440" y="2377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794760" y="123444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94760" y="1371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794760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2029–30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8620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Регионы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86200" y="27889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 субъектов · ФНС/РФМ/ФТС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2377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0" y="123444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0" y="1371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0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2031–32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57784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Федерация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577840" y="27889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100 000 пользователей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903720" y="237744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78040" y="1234440"/>
            <a:ext cx="1508760" cy="320040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9525">
            <a:solidFill>
              <a:srgbClr val="D9D9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3716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Фаза 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78040" y="169164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1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2033–35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69480" y="224028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Зрелость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269480" y="2788920"/>
            <a:ext cx="1325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AI-ассистент · полная эксплуатация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11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8000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048000" y="0"/>
            <a:ext cx="3048000" cy="54864"/>
          </a:xfrm>
          <a:prstGeom prst="rect">
            <a:avLst/>
          </a:prstGeom>
          <a:solidFill>
            <a:srgbClr val="0061D9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096000" y="0"/>
            <a:ext cx="3048000" cy="54864"/>
          </a:xfrm>
          <a:prstGeom prst="rect">
            <a:avLst/>
          </a:prstGeom>
          <a:solidFill>
            <a:srgbClr val="E52E2E"/>
          </a:solidFill>
          <a:ln w="12700">
            <a:solidFill>
              <a:srgbClr val="E52E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Интерактивный прототип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Демонстрация интерфейса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5029200" cy="1508760"/>
          </a:xfrm>
          <a:prstGeom prst="roundRect">
            <a:avLst>
              <a:gd name="adj" fmla="val 6061"/>
            </a:avLst>
          </a:prstGeom>
          <a:solidFill>
            <a:srgbClr val="0A1A33"/>
          </a:solidFill>
          <a:ln w="12700">
            <a:solidFill>
              <a:srgbClr val="0061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88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URL: </a:t>
            </a:r>
            <a:pPr indent="0" marL="0">
              <a:buNone/>
            </a:pPr>
            <a:r>
              <a:rPr lang="en-US" sz="1400" b="1" dirty="0">
                <a:solidFill>
                  <a:srgbClr val="006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http://localhost:3000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246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Демо: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ivanov.sp / epsok2028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Тех. админ: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sidorov.av / epsok2028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8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не заменяет ГИАЦ и СОДЧ — надстраивается над ведомственными системами через СМЭВ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ЕПСОК · Единая платформа следственно-оперативной координации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676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ЕПСОК — Единая платформа следственно-оперативной координации</dc:title>
  <dc:subject>Презентация проекта</dc:subject>
  <dc:creator>ЕПСОК</dc:creator>
  <cp:lastModifiedBy>ЕПСОК</cp:lastModifiedBy>
  <cp:revision>1</cp:revision>
  <dcterms:created xsi:type="dcterms:W3CDTF">2026-06-14T17:16:45Z</dcterms:created>
  <dcterms:modified xsi:type="dcterms:W3CDTF">2026-06-14T17:16:45Z</dcterms:modified>
</cp:coreProperties>
</file>